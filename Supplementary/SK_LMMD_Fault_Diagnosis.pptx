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914400"/>
            <a:ext cx="1463040" cy="1463040"/>
          </a:xfrm>
          <a:prstGeom prst="ellipse">
            <a:avLst/>
          </a:prstGeom>
          <a:solidFill>
            <a:srgbClr val="0D6E8A">
              <a:alpha val="25000"/>
            </a:srgbClr>
          </a:solidFill>
          <a:ln w="25400">
            <a:solidFill>
              <a:srgbClr val="0D6E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1188720"/>
            <a:ext cx="914400" cy="914400"/>
          </a:xfrm>
          <a:prstGeom prst="ellipse">
            <a:avLst/>
          </a:prstGeom>
          <a:solidFill>
            <a:srgbClr val="00C8E0">
              <a:alpha val="35000"/>
            </a:srgbClr>
          </a:solidFill>
          <a:ln w="25400">
            <a:solidFill>
              <a:srgbClr val="00C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2194560"/>
            <a:ext cx="2011680" cy="2011680"/>
          </a:xfrm>
          <a:prstGeom prst="ellipse">
            <a:avLst/>
          </a:prstGeom>
          <a:solidFill>
            <a:srgbClr val="0D6E8A">
              <a:alpha val="20000"/>
            </a:srgbClr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3108960"/>
            <a:ext cx="1097280" cy="1097280"/>
          </a:xfrm>
          <a:prstGeom prst="ellipse">
            <a:avLst/>
          </a:prstGeom>
          <a:solidFill>
            <a:srgbClr val="00C8E0">
              <a:alpha val="30000"/>
            </a:srgbClr>
          </a:solidFill>
          <a:ln w="25400">
            <a:solidFill>
              <a:srgbClr val="00C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8E0"/>
                </a:solidFill>
              </a:rPr>
              <a:t>IEEE Conference Presentation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7772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Kernel Domain Adaptation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LMMD Alignment for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1480" y="19202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Milling Machine Fault Diagnosis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11480" y="2542032"/>
            <a:ext cx="5486400" cy="36576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517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Saif Ullah</a:t>
            </a:r>
            <a:pPr indent="0" marL="0">
              <a:buNone/>
            </a:pPr>
            <a:r>
              <a:rPr lang="en-US" sz="1300" dirty="0">
                <a:solidFill>
                  <a:srgbClr val="A8C4CC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Muhammad Umar</a:t>
            </a:r>
            <a:pPr indent="0" marL="0">
              <a:buNone/>
            </a:pPr>
            <a:r>
              <a:rPr lang="en-US" sz="1300" dirty="0">
                <a:solidFill>
                  <a:srgbClr val="A8C4CC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00C8E0"/>
                </a:solidFill>
              </a:rPr>
              <a:t>Jong-Myon Kim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999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C4CC"/>
                </a:solidFill>
              </a:rPr>
              <a:t>Department of Electrical, Electronic and Computer Engineering  |  University of Ulsan, South Korea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520440"/>
            <a:ext cx="1920240" cy="347472"/>
          </a:xfrm>
          <a:prstGeom prst="rect">
            <a:avLst/>
          </a:prstGeom>
          <a:solidFill>
            <a:srgbClr val="0D6E8A">
              <a:alpha val="60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520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E0"/>
                </a:solidFill>
              </a:rPr>
              <a:t>Fault Diagnosis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0" y="3520440"/>
            <a:ext cx="1920240" cy="347472"/>
          </a:xfrm>
          <a:prstGeom prst="rect">
            <a:avLst/>
          </a:prstGeom>
          <a:solidFill>
            <a:srgbClr val="0D6E8A">
              <a:alpha val="60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3520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E0"/>
                </a:solidFill>
              </a:rPr>
              <a:t>Domain Adaptation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520440"/>
            <a:ext cx="1920240" cy="347472"/>
          </a:xfrm>
          <a:prstGeom prst="rect">
            <a:avLst/>
          </a:prstGeom>
          <a:solidFill>
            <a:srgbClr val="0D6E8A">
              <a:alpha val="60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520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E0"/>
                </a:solidFill>
              </a:rPr>
              <a:t>Transfer Learning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0" y="3520440"/>
            <a:ext cx="1920240" cy="347472"/>
          </a:xfrm>
          <a:prstGeom prst="rect">
            <a:avLst/>
          </a:prstGeom>
          <a:solidFill>
            <a:srgbClr val="0D6E8A">
              <a:alpha val="60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520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E0"/>
                </a:solidFill>
              </a:rPr>
              <a:t>Condition Monitoring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2035"/>
          </a:solidFill>
          <a:ln w="12700">
            <a:solidFill>
              <a:srgbClr val="1220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8646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Funded by MOTIE Korea  •  Technology Innovation Program (20023566)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194560" cy="2103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C8E0"/>
                </a:solidFill>
              </a:rPr>
              <a:t>57%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21945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</a:rPr>
              <a:t>of mechanical breakdowns
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</a:rPr>
              <a:t>caused by tool wear,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</a:rPr>
              <a:t>bearing &amp; gear defects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1005840"/>
            <a:ext cx="58521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6E8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0" y="1005840"/>
            <a:ext cx="73152" cy="10058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0789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⚠  Distribution Shift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14173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Vibration signals at different spindle speeds follow different statistical distributions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2148840"/>
            <a:ext cx="58521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6E8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0" y="2148840"/>
            <a:ext cx="73152" cy="10058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2219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📉  Model Degradation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25603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Deep learning models trained at one speed fail when applied to another operating condition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3291840"/>
            <a:ext cx="58521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6E8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6080" y="3291840"/>
            <a:ext cx="73152" cy="10058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33649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🔍  No Target Labels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37033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In real scenarios, labeled data for new operating conditions is unavailable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PROPOSED SOLUTION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1005840"/>
            <a:ext cx="4206240" cy="914400"/>
          </a:xfrm>
          <a:prstGeom prst="rect">
            <a:avLst/>
          </a:prstGeom>
          <a:solidFill>
            <a:srgbClr val="0D6E8A"/>
          </a:solidFill>
          <a:ln w="25400">
            <a:solidFill>
              <a:srgbClr val="00C8E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68880" y="1005840"/>
            <a:ext cx="4206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SK-DA Network + LMMD Alignment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1920240"/>
            <a:ext cx="0" cy="320040"/>
          </a:xfrm>
          <a:prstGeom prst="line">
            <a:avLst/>
          </a:prstGeom>
          <a:noFill/>
          <a:ln w="25400">
            <a:solidFill>
              <a:srgbClr val="00C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2651760" cy="2468880"/>
          </a:xfrm>
          <a:prstGeom prst="rect">
            <a:avLst/>
          </a:prstGeom>
          <a:solidFill>
            <a:srgbClr val="122035"/>
          </a:solidFill>
          <a:ln w="19050">
            <a:solidFill>
              <a:srgbClr val="00C8E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40280"/>
            <a:ext cx="2651760" cy="7315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2651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E0"/>
                </a:solidFill>
              </a:rPr>
              <a:t>1D Conv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C8E0"/>
                </a:solidFill>
              </a:rPr>
              <a:t>SK-CNN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063240"/>
            <a:ext cx="237744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4CC"/>
                </a:solidFill>
              </a:rPr>
              <a:t>Raw vibration → multi-scale feature extraction with adaptive receptive fields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0" cy="320040"/>
          </a:xfrm>
          <a:prstGeom prst="line">
            <a:avLst/>
          </a:prstGeom>
          <a:noFill/>
          <a:ln w="25400">
            <a:solidFill>
              <a:srgbClr val="00E5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240280"/>
            <a:ext cx="2651760" cy="2468880"/>
          </a:xfrm>
          <a:prstGeom prst="rect">
            <a:avLst/>
          </a:prstGeom>
          <a:solidFill>
            <a:srgbClr val="122035"/>
          </a:solidFill>
          <a:ln w="19050">
            <a:solidFill>
              <a:srgbClr val="00E5B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2240280"/>
            <a:ext cx="2651760" cy="73152"/>
          </a:xfrm>
          <a:prstGeom prst="rect">
            <a:avLst/>
          </a:prstGeom>
          <a:solidFill>
            <a:srgbClr val="00E5B5"/>
          </a:solidFill>
          <a:ln w="12700">
            <a:solidFill>
              <a:srgbClr val="00E5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377440"/>
            <a:ext cx="2651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B5"/>
                </a:solidFill>
              </a:rPr>
              <a:t>LMMD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E5B5"/>
                </a:solidFill>
              </a:rPr>
              <a:t>Alignment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3063240"/>
            <a:ext cx="237744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4CC"/>
                </a:solidFill>
              </a:rPr>
              <a:t>Class-aware distribution matching between source &amp; target speeds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80960" y="1920240"/>
            <a:ext cx="0" cy="320040"/>
          </a:xfrm>
          <a:prstGeom prst="line">
            <a:avLst/>
          </a:prstGeom>
          <a:noFill/>
          <a:ln w="25400">
            <a:solidFill>
              <a:srgbClr val="FF8C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240280"/>
            <a:ext cx="2651760" cy="2468880"/>
          </a:xfrm>
          <a:prstGeom prst="rect">
            <a:avLst/>
          </a:prstGeom>
          <a:solidFill>
            <a:srgbClr val="122035"/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2240280"/>
            <a:ext cx="265176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377440"/>
            <a:ext cx="2651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</a:rPr>
              <a:t>Joint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</a:rPr>
              <a:t>Training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3063240"/>
            <a:ext cx="237744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4CC"/>
                </a:solidFill>
              </a:rPr>
              <a:t>Labeled source + unlabeled target trained simultaneously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EXPERIMENTAL SETUP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8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Machine &amp; Acquisition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114800" cy="36576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A"/>
                </a:solidFill>
              </a:rPr>
              <a:t>Machine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508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INTER SIEG X1 Micro Mill Drill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0208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A"/>
                </a:solidFill>
              </a:rPr>
              <a:t>Sensors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20208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Accelerometers (spindle + motor)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5328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A"/>
                </a:solidFill>
              </a:rPr>
              <a:t>DAQ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2532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NI 9234 @ 25,600 Hz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0449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A"/>
                </a:solidFill>
              </a:rPr>
              <a:t>Spindle Speeds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30449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1320 rpm  &amp;  1440 rpm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55701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A"/>
                </a:solidFill>
              </a:rPr>
              <a:t>Feed 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35570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0.4 mm/s (constant)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A"/>
                </a:solidFill>
              </a:rPr>
              <a:t>Fault Types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4069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Normal · Tool · Bearing · Gear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8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Dataset Samples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389888"/>
            <a:ext cx="4023360" cy="36576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508760"/>
          <a:ext cx="3749040" cy="1371600"/>
        </p:xfrm>
        <a:graphic>
          <a:graphicData uri="http://schemas.openxmlformats.org/drawingml/2006/table">
            <a:tbl>
              <a:tblPr/>
              <a:tblGrid>
                <a:gridCol w="1097280"/>
                <a:gridCol w="658368"/>
                <a:gridCol w="658368"/>
                <a:gridCol w="658368"/>
                <a:gridCol w="65836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Normal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Gear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Bearing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1320 rpm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1440 rpm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4892040" y="3108960"/>
            <a:ext cx="1783080" cy="475488"/>
          </a:xfrm>
          <a:prstGeom prst="rect">
            <a:avLst/>
          </a:prstGeom>
          <a:solidFill>
            <a:srgbClr val="2EC97E">
              <a:alpha val="20000"/>
            </a:srgbClr>
          </a:solidFill>
          <a:ln w="19050">
            <a:solidFill>
              <a:srgbClr val="2EC97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92040" y="310896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97E"/>
                </a:solidFill>
              </a:rPr>
              <a:t>NORMAL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812280" y="3108960"/>
            <a:ext cx="1783080" cy="475488"/>
          </a:xfrm>
          <a:prstGeom prst="rect">
            <a:avLst/>
          </a:prstGeom>
          <a:solidFill>
            <a:srgbClr val="FF8C42">
              <a:alpha val="20000"/>
            </a:srgbClr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12280" y="310896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C42"/>
                </a:solidFill>
              </a:rPr>
              <a:t>TOOL FAULT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892040" y="3749040"/>
            <a:ext cx="1783080" cy="475488"/>
          </a:xfrm>
          <a:prstGeom prst="rect">
            <a:avLst/>
          </a:prstGeom>
          <a:solidFill>
            <a:srgbClr val="00C8E0">
              <a:alpha val="20000"/>
            </a:srgbClr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92040" y="37490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E0"/>
                </a:solidFill>
              </a:rPr>
              <a:t>BEARING FAULT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812280" y="3749040"/>
            <a:ext cx="1783080" cy="475488"/>
          </a:xfrm>
          <a:prstGeom prst="rect">
            <a:avLst/>
          </a:prstGeom>
          <a:solidFill>
            <a:srgbClr val="FF5770">
              <a:alpha val="20000"/>
            </a:srgbClr>
          </a:solidFill>
          <a:ln w="19050">
            <a:solidFill>
              <a:srgbClr val="FF577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12280" y="37490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770"/>
                </a:solidFill>
              </a:rPr>
              <a:t>GEAR FAULT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Faults induced per ISO 8688-2: 0.3mm flank wear, 3mm bearing cut, removed gear tooth section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METHODOLOGY: SIGNAL PROCESSING PIPELINE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554480" cy="1371600"/>
          </a:xfrm>
          <a:prstGeom prst="rect">
            <a:avLst/>
          </a:prstGeom>
          <a:solidFill>
            <a:srgbClr val="122035"/>
          </a:solidFill>
          <a:ln w="25400">
            <a:solidFill>
              <a:srgbClr val="0D6E8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554480" cy="6400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07008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6E8A"/>
                </a:solidFill>
              </a:rPr>
              <a:t>Raw Vibration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6E8A"/>
                </a:solidFill>
              </a:rPr>
              <a:t>Signal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47088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25,600 Hz sampling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1783080"/>
            <a:ext cx="182880" cy="0"/>
          </a:xfrm>
          <a:prstGeom prst="line">
            <a:avLst/>
          </a:prstGeom>
          <a:noFill/>
          <a:ln w="25400">
            <a:solidFill>
              <a:srgbClr val="0D6E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1097280"/>
            <a:ext cx="1554480" cy="1371600"/>
          </a:xfrm>
          <a:prstGeom prst="rect">
            <a:avLst/>
          </a:prstGeom>
          <a:solidFill>
            <a:srgbClr val="122035"/>
          </a:solidFill>
          <a:ln w="25400">
            <a:solidFill>
              <a:srgbClr val="00C8E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1097280"/>
            <a:ext cx="1554480" cy="6400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207008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E0"/>
                </a:solidFill>
              </a:rPr>
              <a:t>Signal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8E0"/>
                </a:solidFill>
              </a:rPr>
              <a:t>Segmentation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1847088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Overlapping windows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preserve fault impulses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1783080"/>
            <a:ext cx="182880" cy="0"/>
          </a:xfrm>
          <a:prstGeom prst="line">
            <a:avLst/>
          </a:prstGeom>
          <a:noFill/>
          <a:ln w="25400">
            <a:solidFill>
              <a:srgbClr val="00C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1097280"/>
            <a:ext cx="1554480" cy="1371600"/>
          </a:xfrm>
          <a:prstGeom prst="rect">
            <a:avLst/>
          </a:prstGeom>
          <a:solidFill>
            <a:srgbClr val="122035"/>
          </a:solidFill>
          <a:ln w="25400">
            <a:solidFill>
              <a:srgbClr val="00E5B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1097280"/>
            <a:ext cx="1554480" cy="64008"/>
          </a:xfrm>
          <a:prstGeom prst="rect">
            <a:avLst/>
          </a:prstGeom>
          <a:solidFill>
            <a:srgbClr val="00E5B5"/>
          </a:solidFill>
          <a:ln w="12700">
            <a:solidFill>
              <a:srgbClr val="00E5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1207008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B5"/>
                </a:solidFill>
              </a:rPr>
              <a:t>SK-CNN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E5B5"/>
                </a:solidFill>
              </a:rPr>
              <a:t>Feature Extraction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4760" y="1847088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1D Conv + Selective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Kernel Attention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1783080"/>
            <a:ext cx="182880" cy="0"/>
          </a:xfrm>
          <a:prstGeom prst="line">
            <a:avLst/>
          </a:prstGeom>
          <a:noFill/>
          <a:ln w="25400">
            <a:solidFill>
              <a:srgbClr val="00E5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1097280"/>
            <a:ext cx="1554480" cy="1371600"/>
          </a:xfrm>
          <a:prstGeom prst="rect">
            <a:avLst/>
          </a:prstGeom>
          <a:solidFill>
            <a:srgbClr val="122035"/>
          </a:solidFill>
          <a:ln w="25400">
            <a:solidFill>
              <a:srgbClr val="FF8C4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1097280"/>
            <a:ext cx="1554480" cy="640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1207008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</a:rPr>
              <a:t>LMMD Domain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</a:rPr>
              <a:t>Alignment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1847088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Class-wise distribution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matching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40880" y="1783080"/>
            <a:ext cx="182880" cy="0"/>
          </a:xfrm>
          <a:prstGeom prst="line">
            <a:avLst/>
          </a:prstGeom>
          <a:noFill/>
          <a:ln w="25400">
            <a:solidFill>
              <a:srgbClr val="FF8C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1097280"/>
            <a:ext cx="1554480" cy="1371600"/>
          </a:xfrm>
          <a:prstGeom prst="rect">
            <a:avLst/>
          </a:prstGeom>
          <a:solidFill>
            <a:srgbClr val="122035"/>
          </a:solidFill>
          <a:ln w="25400">
            <a:solidFill>
              <a:srgbClr val="2EC97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23760" y="1097280"/>
            <a:ext cx="1554480" cy="64008"/>
          </a:xfrm>
          <a:prstGeom prst="rect">
            <a:avLst/>
          </a:prstGeom>
          <a:solidFill>
            <a:srgbClr val="2EC97E"/>
          </a:solidFill>
          <a:ln w="12700">
            <a:solidFill>
              <a:srgbClr val="2EC9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207008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97E"/>
                </a:solidFill>
              </a:rPr>
              <a:t>Fault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C97E"/>
                </a:solidFill>
              </a:rPr>
              <a:t>Classification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1847088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Softmax over 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fault categories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788920"/>
            <a:ext cx="3931920" cy="1920240"/>
          </a:xfrm>
          <a:prstGeom prst="rect">
            <a:avLst/>
          </a:prstGeom>
          <a:solidFill>
            <a:srgbClr val="122035"/>
          </a:solidFill>
          <a:ln w="19050">
            <a:solidFill>
              <a:srgbClr val="00C8E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E0"/>
                </a:solidFill>
              </a:rPr>
              <a:t>SOURCE DOMAIN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200400"/>
            <a:ext cx="3657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1320 rpm — Labeled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(4 fault classes)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3840480"/>
            <a:ext cx="3657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CC"/>
                </a:solidFill>
              </a:rPr>
              <a:t>Classification Loss (Cross-Entropy)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4CC"/>
                </a:solidFill>
              </a:rPr>
              <a:t>guides fault identification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788920"/>
            <a:ext cx="3931920" cy="1920240"/>
          </a:xfrm>
          <a:prstGeom prst="rect">
            <a:avLst/>
          </a:prstGeom>
          <a:solidFill>
            <a:srgbClr val="122035"/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37760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</a:rPr>
              <a:t>TARGET DOMAIN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3200400"/>
            <a:ext cx="3657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1440 rpm — Unlabeled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(no annotations needed)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37760" y="3840480"/>
            <a:ext cx="3657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CC"/>
                </a:solidFill>
              </a:rPr>
              <a:t>LMMD Alignment Loss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4CC"/>
                </a:solidFill>
              </a:rPr>
              <a:t>enforces speed-invariant features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97680" y="3749040"/>
            <a:ext cx="548640" cy="0"/>
          </a:xfrm>
          <a:prstGeom prst="line">
            <a:avLst/>
          </a:prstGeom>
          <a:noFill/>
          <a:ln w="38100">
            <a:solidFill>
              <a:srgbClr val="00E5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15968" y="352044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5B5"/>
                </a:solidFill>
              </a:rPr>
              <a:t>↔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SELECTIVE KERNEL FEATURE EXTRACTOR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371600" cy="731520"/>
          </a:xfrm>
          <a:prstGeom prst="rect">
            <a:avLst/>
          </a:prstGeom>
          <a:solidFill>
            <a:srgbClr val="0A1628"/>
          </a:solidFill>
          <a:ln w="25400">
            <a:solidFill>
              <a:srgbClr val="00C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371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E0"/>
                </a:solidFill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8E0"/>
                </a:solidFill>
              </a:rPr>
              <a:t>Signal 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1371600"/>
            <a:ext cx="365760" cy="0"/>
          </a:xfrm>
          <a:prstGeom prst="line">
            <a:avLst/>
          </a:prstGeom>
          <a:noFill/>
          <a:ln w="25400">
            <a:solidFill>
              <a:srgbClr val="00C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1371600"/>
            <a:ext cx="0" cy="-320040"/>
          </a:xfrm>
          <a:prstGeom prst="line">
            <a:avLst/>
          </a:prstGeom>
          <a:noFill/>
          <a:ln w="19050">
            <a:solidFill>
              <a:srgbClr val="00C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051560"/>
            <a:ext cx="457200" cy="0"/>
          </a:xfrm>
          <a:prstGeom prst="line">
            <a:avLst/>
          </a:prstGeom>
          <a:noFill/>
          <a:ln w="19050">
            <a:solidFill>
              <a:srgbClr val="00C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841248"/>
            <a:ext cx="1463040" cy="45720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841248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E0"/>
                </a:solidFill>
              </a:rPr>
              <a:t>Conv k₁  BN  ReLU → F₁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1371600"/>
            <a:ext cx="0" cy="320040"/>
          </a:xfrm>
          <a:prstGeom prst="line">
            <a:avLst/>
          </a:prstGeom>
          <a:noFill/>
          <a:ln w="19050">
            <a:solidFill>
              <a:srgbClr val="FF8C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1691640"/>
            <a:ext cx="457200" cy="0"/>
          </a:xfrm>
          <a:prstGeom prst="line">
            <a:avLst/>
          </a:prstGeom>
          <a:noFill/>
          <a:ln w="19050">
            <a:solidFill>
              <a:srgbClr val="FF8C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508760"/>
            <a:ext cx="1463040" cy="457200"/>
          </a:xfrm>
          <a:prstGeom prst="rect">
            <a:avLst/>
          </a:prstGeom>
          <a:solidFill>
            <a:srgbClr val="0A1628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2"/>
                </a:solidFill>
              </a:rPr>
              <a:t>Conv k₂  BN  ReLU → F₂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23360" y="1069848"/>
            <a:ext cx="274320" cy="0"/>
          </a:xfrm>
          <a:prstGeom prst="line">
            <a:avLst/>
          </a:prstGeom>
          <a:noFill/>
          <a:ln w="19050">
            <a:solidFill>
              <a:srgbClr val="00C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1737360"/>
            <a:ext cx="274320" cy="0"/>
          </a:xfrm>
          <a:prstGeom prst="line">
            <a:avLst/>
          </a:prstGeom>
          <a:noFill/>
          <a:ln w="19050">
            <a:solidFill>
              <a:srgbClr val="FF8C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1261872"/>
            <a:ext cx="411480" cy="411480"/>
          </a:xfrm>
          <a:prstGeom prst="ellipse">
            <a:avLst/>
          </a:prstGeom>
          <a:solidFill>
            <a:srgbClr val="00E5B5"/>
          </a:solidFill>
          <a:ln w="12700">
            <a:solidFill>
              <a:srgbClr val="00E5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+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23360" y="1069848"/>
            <a:ext cx="0" cy="4663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0" y="1536192"/>
            <a:ext cx="2651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463040"/>
            <a:ext cx="274320" cy="0"/>
          </a:xfrm>
          <a:prstGeom prst="line">
            <a:avLst/>
          </a:prstGeom>
          <a:noFill/>
          <a:ln w="25400">
            <a:solidFill>
              <a:srgbClr val="00E5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1188720"/>
            <a:ext cx="1188720" cy="548640"/>
          </a:xfrm>
          <a:prstGeom prst="rect">
            <a:avLst/>
          </a:prstGeom>
          <a:solidFill>
            <a:srgbClr val="0A1628"/>
          </a:solidFill>
          <a:ln w="19050">
            <a:solidFill>
              <a:srgbClr val="00E5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188720"/>
            <a:ext cx="1188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E5B5"/>
                </a:solidFill>
              </a:rPr>
              <a:t>GAP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E5B5"/>
                </a:solidFill>
              </a:rPr>
              <a:t>→ z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1463040"/>
            <a:ext cx="274320" cy="0"/>
          </a:xfrm>
          <a:prstGeom prst="line">
            <a:avLst/>
          </a:prstGeom>
          <a:noFill/>
          <a:ln w="25400">
            <a:solidFill>
              <a:srgbClr val="00E5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1188720"/>
            <a:ext cx="1280160" cy="548640"/>
          </a:xfrm>
          <a:prstGeom prst="rect">
            <a:avLst/>
          </a:prstGeom>
          <a:solidFill>
            <a:srgbClr val="0A1628"/>
          </a:solidFill>
          <a:ln w="19050">
            <a:solidFill>
              <a:srgbClr val="00E5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188720"/>
            <a:ext cx="12801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E5B5"/>
                </a:solidFill>
              </a:rPr>
              <a:t>Softmax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E5B5"/>
                </a:solidFill>
              </a:rPr>
              <a:t>α₁, α₂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680960" y="1463040"/>
            <a:ext cx="274320" cy="0"/>
          </a:xfrm>
          <a:prstGeom prst="line">
            <a:avLst/>
          </a:prstGeom>
          <a:noFill/>
          <a:ln w="25400">
            <a:solidFill>
              <a:srgbClr val="2EC97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0" y="1188720"/>
            <a:ext cx="1005840" cy="548640"/>
          </a:xfrm>
          <a:prstGeom prst="rect">
            <a:avLst/>
          </a:prstGeom>
          <a:solidFill>
            <a:srgbClr val="0A1628"/>
          </a:solidFill>
          <a:ln w="25400">
            <a:solidFill>
              <a:srgbClr val="2EC9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1188720"/>
            <a:ext cx="1005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97E"/>
                </a:solidFill>
              </a:rPr>
              <a:t>Y = α₁F₁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C97E"/>
                </a:solidFill>
              </a:rPr>
              <a:t>+ α₂F₂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377440"/>
            <a:ext cx="8412480" cy="685800"/>
          </a:xfrm>
          <a:prstGeom prst="rect">
            <a:avLst/>
          </a:prstGeom>
          <a:solidFill>
            <a:srgbClr val="0A1628">
              <a:alpha val="85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423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E0"/>
                </a:solidFill>
              </a:rPr>
              <a:t>KEY INSIGHT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26974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Unlike fixed-kernel CNNs, the SK block dynamically selects the optimal temporal receptive field for each fault type — tool wear requires different signal patterns than bearing defects.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246120"/>
            <a:ext cx="26974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8E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246120"/>
            <a:ext cx="2697480" cy="6400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355848"/>
            <a:ext cx="2514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E0"/>
                </a:solidFill>
              </a:rPr>
              <a:t>Multi-scale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C8E0"/>
                </a:solidFill>
              </a:rPr>
              <a:t>Capture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3840480"/>
            <a:ext cx="2514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Two parallel convolution branches with different kernel sizes k₁, k₂ capture both local and global fault patterns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27832" y="3246120"/>
            <a:ext cx="26974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E5B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27832" y="3246120"/>
            <a:ext cx="2697480" cy="64008"/>
          </a:xfrm>
          <a:prstGeom prst="rect">
            <a:avLst/>
          </a:prstGeom>
          <a:solidFill>
            <a:srgbClr val="00E5B5"/>
          </a:solidFill>
          <a:ln w="12700">
            <a:solidFill>
              <a:srgbClr val="00E5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9272" y="3355848"/>
            <a:ext cx="2514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B5"/>
                </a:solidFill>
              </a:rPr>
              <a:t>Adaptive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E5B5"/>
                </a:solidFill>
              </a:rPr>
              <a:t>Weighting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319272" y="3840480"/>
            <a:ext cx="2514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Attention weights α₁, α₂ from Softmax allow the network to emphasize the most relevant receptive field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89904" y="3246120"/>
            <a:ext cx="26974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89904" y="3246120"/>
            <a:ext cx="2697480" cy="640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81344" y="3355848"/>
            <a:ext cx="2514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</a:rPr>
              <a:t>End-to-End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</a:rPr>
              <a:t>Learning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81344" y="3840480"/>
            <a:ext cx="2514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No handcrafted features — the network learns discriminative representations directly from raw vibration samples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LMMD DOMAIN ALIGNMENT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840480" cy="2926080"/>
          </a:xfrm>
          <a:prstGeom prst="rect">
            <a:avLst/>
          </a:prstGeom>
          <a:solidFill>
            <a:srgbClr val="12203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3840480" cy="43891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C4CC"/>
                </a:solidFill>
              </a:rPr>
              <a:t>Conventional MMD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566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55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A8C4CC"/>
                </a:solidFill>
              </a:rPr>
              <a:t>Aligns overall (marginal) distributions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3566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55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A8C4CC"/>
                </a:solidFill>
              </a:rPr>
              <a:t>Ignores class structure during alignment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3566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55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A8C4CC"/>
                </a:solidFill>
              </a:rPr>
              <a:t>May mix features from different fault types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3566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55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A8C4CC"/>
                </a:solidFill>
              </a:rPr>
              <a:t>Less discriminative for fine-grained faults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1005840"/>
            <a:ext cx="3840480" cy="2926080"/>
          </a:xfrm>
          <a:prstGeom prst="rect">
            <a:avLst/>
          </a:prstGeom>
          <a:solidFill>
            <a:srgbClr val="122035"/>
          </a:solidFill>
          <a:ln w="19050">
            <a:solidFill>
              <a:srgbClr val="00C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005840"/>
            <a:ext cx="3840480" cy="43891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0058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Label-aware LMMD  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1554480"/>
            <a:ext cx="3566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97E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Aligns class-conditional distributions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103120"/>
            <a:ext cx="3566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97E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Matches each fault class separately across speeds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2651760"/>
            <a:ext cx="3566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97E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Preserves inter-class separability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3200400"/>
            <a:ext cx="356616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97E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Achieves speed-invariant discriminative 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2194560"/>
            <a:ext cx="548640" cy="548640"/>
          </a:xfrm>
          <a:prstGeom prst="ellipse">
            <a:avLst/>
          </a:prstGeom>
          <a:solidFill>
            <a:srgbClr val="0D6E8A"/>
          </a:solidFill>
          <a:ln w="25400">
            <a:solidFill>
              <a:srgbClr val="00C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122035"/>
          </a:solidFill>
          <a:ln w="19050">
            <a:solidFill>
              <a:srgbClr val="00E5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B5"/>
                </a:solidFill>
              </a:rPr>
              <a:t>Total Loss:  L_total = L_cls + λ × L_lmmd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RESULTS: CASE 1  —  1320 rpm → 1440 rpm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E0"/>
                </a:solidFill>
              </a:rPr>
              <a:t>Source: 1320 rpm (Labeled)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960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5B5"/>
                </a:solidFill>
              </a:rPr>
              <a:t>→  Knowledge Transfer  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960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</a:rPr>
              <a:t>Target: 1440 rpm (Unlabeled)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8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45920"/>
            <a:ext cx="27432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45920"/>
            <a:ext cx="2560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0"/>
                </a:solidFill>
              </a:rPr>
              <a:t>Confusion Matrix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51560" y="2148840"/>
            <a:ext cx="1371600" cy="1005840"/>
          </a:xfrm>
          <a:prstGeom prst="ellipse">
            <a:avLst/>
          </a:prstGeom>
          <a:solidFill>
            <a:srgbClr val="2EC97E">
              <a:alpha val="15000"/>
            </a:srgbClr>
          </a:solidFill>
          <a:ln w="25400">
            <a:solidFill>
              <a:srgbClr val="2EC9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1488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C97E"/>
                </a:solidFill>
              </a:rPr>
              <a:t>100%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EC97E"/>
                </a:solidFill>
              </a:rPr>
              <a:t>Accuracy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2560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All 4 fault classes correctly identified with ZERO misclassifications across all target domain samples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6459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8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645920"/>
            <a:ext cx="27432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645920"/>
            <a:ext cx="2560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0"/>
                </a:solidFill>
              </a:rPr>
              <a:t>ROC Curves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977640" y="2148840"/>
            <a:ext cx="1371600" cy="1005840"/>
          </a:xfrm>
          <a:prstGeom prst="ellipse">
            <a:avLst/>
          </a:prstGeom>
          <a:solidFill>
            <a:srgbClr val="00C8E0">
              <a:alpha val="15000"/>
            </a:srgbClr>
          </a:solidFill>
          <a:ln w="25400">
            <a:solidFill>
              <a:srgbClr val="00C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21488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8E0"/>
                </a:solidFill>
              </a:rPr>
              <a:t>AUC = 1.0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C8E0"/>
                </a:solidFill>
              </a:rPr>
              <a:t>All Classes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83280" y="3291840"/>
            <a:ext cx="2560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Perfect separation between healthy and faulty conditions across all classes in the unseen target speed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6459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8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645920"/>
            <a:ext cx="27432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645920"/>
            <a:ext cx="2560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0"/>
                </a:solidFill>
              </a:rPr>
              <a:t>t-SNE Visualization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03720" y="2148840"/>
            <a:ext cx="1371600" cy="1005840"/>
          </a:xfrm>
          <a:prstGeom prst="ellipse">
            <a:avLst/>
          </a:prstGeom>
          <a:solidFill>
            <a:srgbClr val="00E5B5">
              <a:alpha val="15000"/>
            </a:srgbClr>
          </a:solidFill>
          <a:ln w="25400">
            <a:solidFill>
              <a:srgbClr val="00E5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21488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B5"/>
                </a:solidFill>
              </a:rPr>
              <a:t>4 Distinct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E5B5"/>
                </a:solidFill>
              </a:rPr>
              <a:t>Clusters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09360" y="3291840"/>
            <a:ext cx="25603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4 clearly separated compact clusters — no overlap between fault categories confirming LMMD alignment success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RESULTS: CASE 2  —  1440 rpm → 1320 rpm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solidFill>
            <a:srgbClr val="122035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8C42"/>
                </a:solidFill>
              </a:rPr>
              <a:t>Reversed Direction: Source 1440 rpm → Target 1320 rpm  |  Validates bidirectional transfer capability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3931920" cy="1417320"/>
          </a:xfrm>
          <a:prstGeom prst="rect">
            <a:avLst/>
          </a:prstGeom>
          <a:solidFill>
            <a:srgbClr val="122035"/>
          </a:solidFill>
          <a:ln w="25400">
            <a:solidFill>
              <a:srgbClr val="2EC97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91640"/>
            <a:ext cx="64008" cy="1417320"/>
          </a:xfrm>
          <a:prstGeom prst="rect">
            <a:avLst/>
          </a:prstGeom>
          <a:solidFill>
            <a:srgbClr val="2EC97E"/>
          </a:solidFill>
          <a:ln w="12700">
            <a:solidFill>
              <a:srgbClr val="2EC9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830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97E"/>
                </a:solidFill>
              </a:rPr>
              <a:t>100%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920240" y="1801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Classification Accuracy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2286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CC"/>
                </a:solidFill>
              </a:rPr>
              <a:t>All samples correctly classified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931920" cy="1417320"/>
          </a:xfrm>
          <a:prstGeom prst="rect">
            <a:avLst/>
          </a:prstGeom>
          <a:solidFill>
            <a:srgbClr val="122035"/>
          </a:solidFill>
          <a:ln w="25400">
            <a:solidFill>
              <a:srgbClr val="00C8E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691640"/>
            <a:ext cx="64008" cy="14173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7830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8E0"/>
                </a:solidFill>
              </a:rPr>
              <a:t>1.0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17920" y="1801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AUC Score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286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CC"/>
                </a:solidFill>
              </a:rPr>
              <a:t>Perfect ROC for all 4 fault classes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3931920" cy="1417320"/>
          </a:xfrm>
          <a:prstGeom prst="rect">
            <a:avLst/>
          </a:prstGeom>
          <a:solidFill>
            <a:srgbClr val="122035"/>
          </a:solidFill>
          <a:ln w="25400">
            <a:solidFill>
              <a:srgbClr val="00E5B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91840"/>
            <a:ext cx="64008" cy="1417320"/>
          </a:xfrm>
          <a:prstGeom prst="rect">
            <a:avLst/>
          </a:prstGeom>
          <a:solidFill>
            <a:srgbClr val="00E5B5"/>
          </a:solidFill>
          <a:ln w="12700">
            <a:solidFill>
              <a:srgbClr val="00E5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383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E5B5"/>
                </a:solidFill>
              </a:rPr>
              <a:t>4/4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1920240" y="3401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 Clusters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3886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CC"/>
                </a:solidFill>
              </a:rPr>
              <a:t>Well-separated t-SNE clusters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291840"/>
            <a:ext cx="3931920" cy="1417320"/>
          </a:xfrm>
          <a:prstGeom prst="rect">
            <a:avLst/>
          </a:prstGeom>
          <a:solidFill>
            <a:srgbClr val="122035"/>
          </a:solidFill>
          <a:ln w="25400">
            <a:solidFill>
              <a:srgbClr val="FF8C4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291840"/>
            <a:ext cx="64008" cy="14173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383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8C42"/>
                </a:solidFill>
              </a:rPr>
              <a:t>0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217920" y="3401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Misclassifications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3886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CC"/>
                </a:solidFill>
              </a:rPr>
              <a:t>Zero errors across all conditions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0D6E8A">
              <a:alpha val="50000"/>
            </a:srgbClr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663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The model generalizes in BOTH transfer directions — confirming speed-invariant feature learning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CONTRIBUTIONS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8E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207008"/>
            <a:ext cx="566928" cy="566928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07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29260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Cross-Speed Diagnostic Framework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" y="1847088"/>
            <a:ext cx="3657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Domain adaptation enabling knowledge transfer between different spindle speeds without target labels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393192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E5B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73168" y="1207008"/>
            <a:ext cx="566928" cy="566928"/>
          </a:xfrm>
          <a:prstGeom prst="ellipse">
            <a:avLst/>
          </a:prstGeom>
          <a:solidFill>
            <a:srgbClr val="00E5B5"/>
          </a:solidFill>
          <a:ln w="12700">
            <a:solidFill>
              <a:srgbClr val="00E5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207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0" y="1143000"/>
            <a:ext cx="29260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1D Selective Kernel CNN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73168" y="1847088"/>
            <a:ext cx="3657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Multi-scale fault pattern learning directly from raw vibration — no time-frequency image conversion needed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393192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3035808"/>
            <a:ext cx="566928" cy="566928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035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971800"/>
            <a:ext cx="29260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Class-aware LMMD Alignment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" y="3675888"/>
            <a:ext cx="3657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Reduces feature distribution mismatch at the class level, preserving discriminability across operating speeds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834640"/>
            <a:ext cx="393192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C97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73168" y="3035808"/>
            <a:ext cx="566928" cy="566928"/>
          </a:xfrm>
          <a:prstGeom prst="ellipse">
            <a:avLst/>
          </a:prstGeom>
          <a:solidFill>
            <a:srgbClr val="2EC97E"/>
          </a:solidFill>
          <a:ln w="12700">
            <a:solidFill>
              <a:srgbClr val="2EC9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3035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2971800"/>
            <a:ext cx="29260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Practical Industrial Solution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73168" y="3675888"/>
            <a:ext cx="3657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Validated on real milling machine data — deployable for tool condition monitoring in manufacturing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4CC"/>
                </a:solidFill>
              </a:rPr>
              <a:t>A Selective Kernel Domain Adaptation Network with LMMD alignment successfully overcomes the cross-speed distribution shift challenge in milling machine fault diagnosis — achieving perfect classification in both transfer directions without any target domain labels.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651760" cy="1188720"/>
          </a:xfrm>
          <a:prstGeom prst="rect">
            <a:avLst/>
          </a:prstGeom>
          <a:solidFill>
            <a:srgbClr val="122035"/>
          </a:solidFill>
          <a:ln w="19050">
            <a:solidFill>
              <a:srgbClr val="00C8E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606040"/>
            <a:ext cx="265176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97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2468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E0"/>
                </a:solidFill>
              </a:rPr>
              <a:t>No Time-Frequency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8E0"/>
                </a:solidFill>
              </a:rPr>
              <a:t>Conversion Needed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2606040"/>
            <a:ext cx="2651760" cy="1188720"/>
          </a:xfrm>
          <a:prstGeom prst="rect">
            <a:avLst/>
          </a:prstGeom>
          <a:solidFill>
            <a:srgbClr val="122035"/>
          </a:solidFill>
          <a:ln w="19050">
            <a:solidFill>
              <a:srgbClr val="00E5B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2606040"/>
            <a:ext cx="2651760" cy="54864"/>
          </a:xfrm>
          <a:prstGeom prst="rect">
            <a:avLst/>
          </a:prstGeom>
          <a:solidFill>
            <a:srgbClr val="00E5B5"/>
          </a:solidFill>
          <a:ln w="12700">
            <a:solidFill>
              <a:srgbClr val="00E5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2697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47288" y="3154680"/>
            <a:ext cx="2468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B5"/>
                </a:solidFill>
              </a:rPr>
              <a:t>Speed-Invariant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E5B5"/>
                </a:solidFill>
              </a:rPr>
              <a:t>Fault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2606040"/>
            <a:ext cx="2651760" cy="1188720"/>
          </a:xfrm>
          <a:prstGeom prst="rect">
            <a:avLst/>
          </a:prstGeom>
          <a:solidFill>
            <a:srgbClr val="122035"/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2606040"/>
            <a:ext cx="265176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2697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45936" y="3154680"/>
            <a:ext cx="2468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</a:rPr>
              <a:t>Practical Predictive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</a:rPr>
              <a:t>Maintenance Ready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solidFill>
            <a:srgbClr val="122035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77640"/>
            <a:ext cx="79552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CC"/>
                </a:solidFill>
              </a:rPr>
              <a:t>Future Work: Extend to multi-speed scenarios, other rotating machinery, and online adaptive learning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E0"/>
                </a:solidFill>
              </a:rPr>
              <a:t>Thank you for your attention!  |  saifuou@mail.ulsan.ac.kr  |  University of Ulsan, South Korea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Selective Kernel Domain Adaptation with LMMD Alignment for Milling Machines Fault Diagnosis</dc:title>
  <dc:subject>PptxGenJS Presentation</dc:subject>
  <dc:creator>PptxGenJS</dc:creator>
  <cp:lastModifiedBy>PptxGenJS</cp:lastModifiedBy>
  <cp:revision>1</cp:revision>
  <dcterms:created xsi:type="dcterms:W3CDTF">2026-04-06T06:35:56Z</dcterms:created>
  <dcterms:modified xsi:type="dcterms:W3CDTF">2026-04-06T06:35:56Z</dcterms:modified>
</cp:coreProperties>
</file>